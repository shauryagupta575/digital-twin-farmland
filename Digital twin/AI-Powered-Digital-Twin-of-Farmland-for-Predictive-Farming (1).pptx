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mo Bold" panose="020B0604020202020204" charset="0"/>
      <p:regular r:id="rId11"/>
      <p:bold r:id="rId12"/>
    </p:embeddedFont>
    <p:embeddedFont>
      <p:font typeface="Bitter" panose="020B0604020202020204" charset="0"/>
      <p:regular r:id="rId13"/>
    </p:embeddedFont>
    <p:embeddedFont>
      <p:font typeface="Bitter Bold" panose="020B060402020202020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3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0237" y="2251174"/>
            <a:ext cx="9445526" cy="271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AI-Powered Digital Twin of Farmland for Predictive Farming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7" y="5296197"/>
            <a:ext cx="9445526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 comprehensive project exploring the integration of artificial intelligence, Internet of Things, and digital twin technologies to revolutionize agricultural management and enable data-driven precision farming.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7" y="7429649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Manipal University Jaipur, Department of Data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60375" y="628353"/>
            <a:ext cx="10179398" cy="81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Project Team and Academic Context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8420" y="3171023"/>
            <a:ext cx="3687812" cy="48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 dirty="0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Research Team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3315" y="3856565"/>
            <a:ext cx="9700320" cy="47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Adhiraj Singh Chauhan (2430010309)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315" y="4414744"/>
            <a:ext cx="9700320" cy="47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Srijan Satyam (2430010306)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521" y="4910038"/>
            <a:ext cx="9700320" cy="47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Shaurya Gupta (2430010320)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0521" y="5454383"/>
            <a:ext cx="9700320" cy="47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Kaustubh Negi (2430010311)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0521" y="7291739"/>
            <a:ext cx="3723085" cy="48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 dirty="0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Academic Supervision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5962" y="8519483"/>
            <a:ext cx="9700320" cy="47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b="1" dirty="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Project Guide:</a:t>
            </a:r>
            <a:r>
              <a:rPr lang="en-US" sz="1874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Dr. Ginika Mahajan, Assistant Professor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085" y="9097943"/>
            <a:ext cx="9700320" cy="47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b="1" dirty="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Class Instructor:</a:t>
            </a:r>
            <a:r>
              <a:rPr lang="en-US" sz="1874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Dr. Anil Kumar Prajapati, Assistant Professor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73024" y="8420100"/>
            <a:ext cx="6757776" cy="1156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Submitted in partial fulfillment for the Bachelor of Technology degree in Computer Science and Engineering (Data Science), November 2025.</a:t>
            </a:r>
          </a:p>
        </p:txBody>
      </p:sp>
      <p:pic>
        <p:nvPicPr>
          <p:cNvPr id="1026" name="Picture 2" descr="Let's get to know a little about MUJ! | by Rishi Banerjee | Manipal | Medium">
            <a:extLst>
              <a:ext uri="{FF2B5EF4-FFF2-40B4-BE49-F238E27FC236}">
                <a16:creationId xmlns:a16="http://schemas.microsoft.com/office/drawing/2014/main" id="{09CC9664-1B80-C125-94C4-F46FFB926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773" y="2072582"/>
            <a:ext cx="6397229" cy="616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3343572"/>
            <a:chOff x="0" y="0"/>
            <a:chExt cx="24384000" cy="445809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458081"/>
            </a:xfrm>
            <a:custGeom>
              <a:avLst/>
              <a:gdLst/>
              <a:ahLst/>
              <a:cxnLst/>
              <a:rect l="l" t="t" r="r" b="b"/>
              <a:pathLst>
                <a:path w="24384000" h="4458081">
                  <a:moveTo>
                    <a:pt x="0" y="0"/>
                  </a:moveTo>
                  <a:lnTo>
                    <a:pt x="24384000" y="0"/>
                  </a:lnTo>
                  <a:lnTo>
                    <a:pt x="24384000" y="4458081"/>
                  </a:lnTo>
                  <a:lnTo>
                    <a:pt x="0" y="4458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r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91629" y="3295947"/>
            <a:ext cx="10736461" cy="84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Research Foundation and Motivation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91629" y="5062984"/>
            <a:ext cx="5331767" cy="4524970"/>
            <a:chOff x="0" y="0"/>
            <a:chExt cx="7109023" cy="60332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08952" cy="6033262"/>
            </a:xfrm>
            <a:custGeom>
              <a:avLst/>
              <a:gdLst/>
              <a:ahLst/>
              <a:cxnLst/>
              <a:rect l="l" t="t" r="r" b="b"/>
              <a:pathLst>
                <a:path w="7108952" h="6033262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058025" y="0"/>
                  </a:lnTo>
                  <a:cubicBezTo>
                    <a:pt x="7086219" y="0"/>
                    <a:pt x="7108952" y="22860"/>
                    <a:pt x="7108952" y="50927"/>
                  </a:cubicBezTo>
                  <a:lnTo>
                    <a:pt x="7108952" y="5982335"/>
                  </a:lnTo>
                  <a:cubicBezTo>
                    <a:pt x="7108952" y="6010529"/>
                    <a:pt x="7086092" y="6033262"/>
                    <a:pt x="7058025" y="6033262"/>
                  </a:cubicBezTo>
                  <a:lnTo>
                    <a:pt x="50927" y="6033262"/>
                  </a:lnTo>
                  <a:cubicBezTo>
                    <a:pt x="22733" y="6033262"/>
                    <a:pt x="0" y="6010402"/>
                    <a:pt x="0" y="5982335"/>
                  </a:cubicBezTo>
                  <a:close/>
                </a:path>
              </a:pathLst>
            </a:custGeom>
            <a:solidFill>
              <a:srgbClr val="3B3C3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6274" y="5317629"/>
            <a:ext cx="764232" cy="764232"/>
            <a:chOff x="0" y="0"/>
            <a:chExt cx="1018977" cy="10189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8921" cy="1018921"/>
            </a:xfrm>
            <a:custGeom>
              <a:avLst/>
              <a:gdLst/>
              <a:ahLst/>
              <a:cxnLst/>
              <a:rect l="l" t="t" r="r" b="b"/>
              <a:pathLst>
                <a:path w="1018921" h="1018921">
                  <a:moveTo>
                    <a:pt x="0" y="509524"/>
                  </a:moveTo>
                  <a:cubicBezTo>
                    <a:pt x="0" y="228092"/>
                    <a:pt x="228092" y="0"/>
                    <a:pt x="509524" y="0"/>
                  </a:cubicBezTo>
                  <a:cubicBezTo>
                    <a:pt x="790956" y="0"/>
                    <a:pt x="1018921" y="228092"/>
                    <a:pt x="1018921" y="509524"/>
                  </a:cubicBezTo>
                  <a:cubicBezTo>
                    <a:pt x="1018921" y="790956"/>
                    <a:pt x="790829" y="1018921"/>
                    <a:pt x="509524" y="1018921"/>
                  </a:cubicBezTo>
                  <a:cubicBezTo>
                    <a:pt x="228219" y="1018921"/>
                    <a:pt x="0" y="790829"/>
                    <a:pt x="0" y="509524"/>
                  </a:cubicBezTo>
                  <a:close/>
                </a:path>
              </a:pathLst>
            </a:custGeom>
            <a:solidFill>
              <a:srgbClr val="9FA58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1356420" y="5527774"/>
            <a:ext cx="343793" cy="343792"/>
          </a:xfrm>
          <a:custGeom>
            <a:avLst/>
            <a:gdLst/>
            <a:ahLst/>
            <a:cxnLst/>
            <a:rect l="l" t="t" r="r" b="b"/>
            <a:pathLst>
              <a:path w="343793" h="343792">
                <a:moveTo>
                  <a:pt x="0" y="0"/>
                </a:moveTo>
                <a:lnTo>
                  <a:pt x="343792" y="0"/>
                </a:lnTo>
                <a:lnTo>
                  <a:pt x="343792" y="343792"/>
                </a:lnTo>
                <a:lnTo>
                  <a:pt x="0" y="34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63513" b="-635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53201" y="6136183"/>
            <a:ext cx="3278386" cy="42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 dirty="0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Agricultural Challenge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6274" y="6811267"/>
            <a:ext cx="4822477" cy="252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Modern agriculture generates vast amounts of data from sensors, weather stations, and remote sensing, yet farmers lack integrated tools to synthesize this information for actionable insights.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78041" y="5062984"/>
            <a:ext cx="5331767" cy="4524970"/>
            <a:chOff x="0" y="0"/>
            <a:chExt cx="7109023" cy="60332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08952" cy="6033262"/>
            </a:xfrm>
            <a:custGeom>
              <a:avLst/>
              <a:gdLst/>
              <a:ahLst/>
              <a:cxnLst/>
              <a:rect l="l" t="t" r="r" b="b"/>
              <a:pathLst>
                <a:path w="7108952" h="6033262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058025" y="0"/>
                  </a:lnTo>
                  <a:cubicBezTo>
                    <a:pt x="7086219" y="0"/>
                    <a:pt x="7108952" y="22860"/>
                    <a:pt x="7108952" y="50927"/>
                  </a:cubicBezTo>
                  <a:lnTo>
                    <a:pt x="7108952" y="5982335"/>
                  </a:lnTo>
                  <a:cubicBezTo>
                    <a:pt x="7108952" y="6010529"/>
                    <a:pt x="7086092" y="6033262"/>
                    <a:pt x="7058025" y="6033262"/>
                  </a:cubicBezTo>
                  <a:lnTo>
                    <a:pt x="50927" y="6033262"/>
                  </a:lnTo>
                  <a:cubicBezTo>
                    <a:pt x="22733" y="6033262"/>
                    <a:pt x="0" y="6010402"/>
                    <a:pt x="0" y="5982335"/>
                  </a:cubicBezTo>
                  <a:close/>
                </a:path>
              </a:pathLst>
            </a:custGeom>
            <a:solidFill>
              <a:srgbClr val="3B3C3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32686" y="5317629"/>
            <a:ext cx="764232" cy="764232"/>
            <a:chOff x="0" y="0"/>
            <a:chExt cx="1018977" cy="10189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8921" cy="1018921"/>
            </a:xfrm>
            <a:custGeom>
              <a:avLst/>
              <a:gdLst/>
              <a:ahLst/>
              <a:cxnLst/>
              <a:rect l="l" t="t" r="r" b="b"/>
              <a:pathLst>
                <a:path w="1018921" h="1018921">
                  <a:moveTo>
                    <a:pt x="0" y="509524"/>
                  </a:moveTo>
                  <a:cubicBezTo>
                    <a:pt x="0" y="228092"/>
                    <a:pt x="228092" y="0"/>
                    <a:pt x="509524" y="0"/>
                  </a:cubicBezTo>
                  <a:cubicBezTo>
                    <a:pt x="790956" y="0"/>
                    <a:pt x="1018921" y="228092"/>
                    <a:pt x="1018921" y="509524"/>
                  </a:cubicBezTo>
                  <a:cubicBezTo>
                    <a:pt x="1018921" y="790956"/>
                    <a:pt x="790829" y="1018921"/>
                    <a:pt x="509524" y="1018921"/>
                  </a:cubicBezTo>
                  <a:cubicBezTo>
                    <a:pt x="228219" y="1018921"/>
                    <a:pt x="0" y="790829"/>
                    <a:pt x="0" y="509524"/>
                  </a:cubicBezTo>
                  <a:close/>
                </a:path>
              </a:pathLst>
            </a:custGeom>
            <a:solidFill>
              <a:srgbClr val="9FA58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6942832" y="5527774"/>
            <a:ext cx="343793" cy="343792"/>
          </a:xfrm>
          <a:custGeom>
            <a:avLst/>
            <a:gdLst/>
            <a:ahLst/>
            <a:cxnLst/>
            <a:rect l="l" t="t" r="r" b="b"/>
            <a:pathLst>
              <a:path w="343793" h="343792">
                <a:moveTo>
                  <a:pt x="0" y="0"/>
                </a:moveTo>
                <a:lnTo>
                  <a:pt x="343793" y="0"/>
                </a:lnTo>
                <a:lnTo>
                  <a:pt x="343793" y="343792"/>
                </a:lnTo>
                <a:lnTo>
                  <a:pt x="0" y="343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51" b="-13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732686" y="6307931"/>
            <a:ext cx="3184475" cy="42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Technology Gap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32686" y="6811267"/>
            <a:ext cx="4822477" cy="2114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Existing solutions provide fragmented data streams—soil sensors, weather apps, and drone imagery operate independently without cohesive integration or predictive capabilities.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64454" y="5062984"/>
            <a:ext cx="5331916" cy="4524970"/>
            <a:chOff x="0" y="0"/>
            <a:chExt cx="7109222" cy="603329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09206" cy="6033262"/>
            </a:xfrm>
            <a:custGeom>
              <a:avLst/>
              <a:gdLst/>
              <a:ahLst/>
              <a:cxnLst/>
              <a:rect l="l" t="t" r="r" b="b"/>
              <a:pathLst>
                <a:path w="7109206" h="6033262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058279" y="0"/>
                  </a:lnTo>
                  <a:cubicBezTo>
                    <a:pt x="7086473" y="0"/>
                    <a:pt x="7109206" y="22860"/>
                    <a:pt x="7109206" y="50927"/>
                  </a:cubicBezTo>
                  <a:lnTo>
                    <a:pt x="7109206" y="5982335"/>
                  </a:lnTo>
                  <a:cubicBezTo>
                    <a:pt x="7109206" y="6010529"/>
                    <a:pt x="7086347" y="6033262"/>
                    <a:pt x="7058279" y="6033262"/>
                  </a:cubicBezTo>
                  <a:lnTo>
                    <a:pt x="50927" y="6033262"/>
                  </a:lnTo>
                  <a:cubicBezTo>
                    <a:pt x="22733" y="6033262"/>
                    <a:pt x="0" y="6010402"/>
                    <a:pt x="0" y="5982335"/>
                  </a:cubicBezTo>
                  <a:close/>
                </a:path>
              </a:pathLst>
            </a:custGeom>
            <a:solidFill>
              <a:srgbClr val="3B3C3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19099" y="5317629"/>
            <a:ext cx="764232" cy="764232"/>
            <a:chOff x="0" y="0"/>
            <a:chExt cx="1018977" cy="101897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8921" cy="1018921"/>
            </a:xfrm>
            <a:custGeom>
              <a:avLst/>
              <a:gdLst/>
              <a:ahLst/>
              <a:cxnLst/>
              <a:rect l="l" t="t" r="r" b="b"/>
              <a:pathLst>
                <a:path w="1018921" h="1018921">
                  <a:moveTo>
                    <a:pt x="0" y="509524"/>
                  </a:moveTo>
                  <a:cubicBezTo>
                    <a:pt x="0" y="228092"/>
                    <a:pt x="228092" y="0"/>
                    <a:pt x="509524" y="0"/>
                  </a:cubicBezTo>
                  <a:cubicBezTo>
                    <a:pt x="790956" y="0"/>
                    <a:pt x="1018921" y="228092"/>
                    <a:pt x="1018921" y="509524"/>
                  </a:cubicBezTo>
                  <a:cubicBezTo>
                    <a:pt x="1018921" y="790956"/>
                    <a:pt x="790829" y="1018921"/>
                    <a:pt x="509524" y="1018921"/>
                  </a:cubicBezTo>
                  <a:cubicBezTo>
                    <a:pt x="228219" y="1018921"/>
                    <a:pt x="0" y="790829"/>
                    <a:pt x="0" y="509524"/>
                  </a:cubicBezTo>
                  <a:close/>
                </a:path>
              </a:pathLst>
            </a:custGeom>
            <a:solidFill>
              <a:srgbClr val="9FA58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12529245" y="5527774"/>
            <a:ext cx="343792" cy="343792"/>
          </a:xfrm>
          <a:custGeom>
            <a:avLst/>
            <a:gdLst/>
            <a:ahLst/>
            <a:cxnLst/>
            <a:rect l="l" t="t" r="r" b="b"/>
            <a:pathLst>
              <a:path w="343792" h="343792">
                <a:moveTo>
                  <a:pt x="0" y="0"/>
                </a:moveTo>
                <a:lnTo>
                  <a:pt x="343792" y="0"/>
                </a:lnTo>
                <a:lnTo>
                  <a:pt x="343792" y="343792"/>
                </a:lnTo>
                <a:lnTo>
                  <a:pt x="0" y="3437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2319099" y="6307931"/>
            <a:ext cx="3184475" cy="42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Digital Twin Solution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19099" y="6811267"/>
            <a:ext cx="4822626" cy="252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Our system creates a dynamic virtual representation combining real-time sensor data, remote sensing imagery, and computational models for comprehensive farm visualization and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374154"/>
            <a:ext cx="13180962" cy="825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Literature Review: State of the Art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260252"/>
            <a:ext cx="4365129" cy="56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Key Research Findings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698974"/>
            <a:ext cx="5245447" cy="38100"/>
            <a:chOff x="0" y="0"/>
            <a:chExt cx="6993930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6" y="3807007"/>
            <a:ext cx="6018163" cy="407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AI-Enhanced Yield 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7" y="4603849"/>
            <a:ext cx="7008763" cy="180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AI-enabled models demonstrated 20% improvement in yield prediction accuracy, with UAVs reducing water usage by 96% and fertilizer consumption by 40%.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21202" y="3698974"/>
            <a:ext cx="5245447" cy="38100"/>
            <a:chOff x="0" y="0"/>
            <a:chExt cx="6993930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50166" y="3698974"/>
            <a:ext cx="5245447" cy="38100"/>
            <a:chOff x="0" y="0"/>
            <a:chExt cx="6993930" cy="50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982200" y="3821104"/>
            <a:ext cx="7200601" cy="407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Federated Learning Integration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82200" y="4434631"/>
            <a:ext cx="7313413" cy="13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Privacy-preserving frameworks combine Digital Twin and IoT technologies for secure, decentralized decision-making in livestock and crop management.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2237" y="7664797"/>
            <a:ext cx="16303526" cy="1593503"/>
            <a:chOff x="0" y="0"/>
            <a:chExt cx="21738035" cy="21246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38081" cy="2124679"/>
            </a:xfrm>
            <a:custGeom>
              <a:avLst/>
              <a:gdLst/>
              <a:ahLst/>
              <a:cxnLst/>
              <a:rect l="l" t="t" r="r" b="b"/>
              <a:pathLst>
                <a:path w="21738081" h="2124679">
                  <a:moveTo>
                    <a:pt x="0" y="54548"/>
                  </a:moveTo>
                  <a:cubicBezTo>
                    <a:pt x="0" y="24406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4406"/>
                    <a:pt x="21738081" y="54548"/>
                  </a:cubicBezTo>
                  <a:lnTo>
                    <a:pt x="21738081" y="2070131"/>
                  </a:lnTo>
                  <a:cubicBezTo>
                    <a:pt x="21738081" y="2100272"/>
                    <a:pt x="21712681" y="2124679"/>
                    <a:pt x="21681312" y="2124679"/>
                  </a:cubicBezTo>
                  <a:lnTo>
                    <a:pt x="56769" y="2124679"/>
                  </a:lnTo>
                  <a:cubicBezTo>
                    <a:pt x="25400" y="2124679"/>
                    <a:pt x="0" y="2100272"/>
                    <a:pt x="0" y="2070131"/>
                  </a:cubicBezTo>
                  <a:close/>
                </a:path>
              </a:pathLst>
            </a:custGeom>
            <a:solidFill>
              <a:srgbClr val="2A2C2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275755" y="7750076"/>
            <a:ext cx="354360" cy="283518"/>
            <a:chOff x="0" y="0"/>
            <a:chExt cx="472480" cy="378023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70" r="-8" b="-6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93262" y="7944631"/>
            <a:ext cx="15098614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Despite technological advances, the primary challenge remains </a:t>
            </a:r>
            <a:r>
              <a:rPr lang="en-US" sz="2187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integration and usability</a:t>
            </a:r>
            <a:r>
              <a:rPr lang="en-US" sz="2187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—farmers need unified systems that synthesize disparate data sources into coherent, actionable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89099" y="305282"/>
            <a:ext cx="12825264" cy="845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Research Analysis: Methods and Limitations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89099" y="2008435"/>
            <a:ext cx="16509801" cy="6474470"/>
            <a:chOff x="0" y="0"/>
            <a:chExt cx="22013068" cy="8632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13038" cy="8632572"/>
            </a:xfrm>
            <a:custGeom>
              <a:avLst/>
              <a:gdLst/>
              <a:ahLst/>
              <a:cxnLst/>
              <a:rect l="l" t="t" r="r" b="b"/>
              <a:pathLst>
                <a:path w="22013038" h="8632572">
                  <a:moveTo>
                    <a:pt x="0" y="57404"/>
                  </a:moveTo>
                  <a:cubicBezTo>
                    <a:pt x="0" y="25781"/>
                    <a:pt x="25781" y="0"/>
                    <a:pt x="57531" y="0"/>
                  </a:cubicBezTo>
                  <a:lnTo>
                    <a:pt x="21955506" y="0"/>
                  </a:lnTo>
                  <a:lnTo>
                    <a:pt x="21955506" y="6350"/>
                  </a:lnTo>
                  <a:lnTo>
                    <a:pt x="21955506" y="0"/>
                  </a:lnTo>
                  <a:cubicBezTo>
                    <a:pt x="21987256" y="0"/>
                    <a:pt x="22013038" y="25781"/>
                    <a:pt x="22013038" y="57404"/>
                  </a:cubicBezTo>
                  <a:lnTo>
                    <a:pt x="22006688" y="57404"/>
                  </a:lnTo>
                  <a:lnTo>
                    <a:pt x="22013038" y="57404"/>
                  </a:lnTo>
                  <a:lnTo>
                    <a:pt x="22013038" y="8575167"/>
                  </a:lnTo>
                  <a:lnTo>
                    <a:pt x="22006688" y="8575167"/>
                  </a:lnTo>
                  <a:lnTo>
                    <a:pt x="22013038" y="8575167"/>
                  </a:lnTo>
                  <a:cubicBezTo>
                    <a:pt x="22013038" y="8606917"/>
                    <a:pt x="21987256" y="8632572"/>
                    <a:pt x="21955506" y="8632572"/>
                  </a:cubicBezTo>
                  <a:lnTo>
                    <a:pt x="21955506" y="8626222"/>
                  </a:lnTo>
                  <a:lnTo>
                    <a:pt x="21955506" y="8632572"/>
                  </a:lnTo>
                  <a:lnTo>
                    <a:pt x="57531" y="8632572"/>
                  </a:lnTo>
                  <a:lnTo>
                    <a:pt x="57531" y="8626222"/>
                  </a:lnTo>
                  <a:lnTo>
                    <a:pt x="57531" y="8632572"/>
                  </a:lnTo>
                  <a:cubicBezTo>
                    <a:pt x="25781" y="8632572"/>
                    <a:pt x="0" y="8606790"/>
                    <a:pt x="0" y="8575167"/>
                  </a:cubicBezTo>
                  <a:lnTo>
                    <a:pt x="0" y="57404"/>
                  </a:lnTo>
                  <a:lnTo>
                    <a:pt x="6350" y="57404"/>
                  </a:lnTo>
                  <a:lnTo>
                    <a:pt x="0" y="57404"/>
                  </a:lnTo>
                  <a:moveTo>
                    <a:pt x="12700" y="57404"/>
                  </a:moveTo>
                  <a:lnTo>
                    <a:pt x="12700" y="8575167"/>
                  </a:lnTo>
                  <a:lnTo>
                    <a:pt x="6350" y="8575167"/>
                  </a:lnTo>
                  <a:lnTo>
                    <a:pt x="12700" y="8575167"/>
                  </a:lnTo>
                  <a:cubicBezTo>
                    <a:pt x="12700" y="8599932"/>
                    <a:pt x="32766" y="8619872"/>
                    <a:pt x="57531" y="8619872"/>
                  </a:cubicBezTo>
                  <a:lnTo>
                    <a:pt x="21955506" y="8619872"/>
                  </a:lnTo>
                  <a:cubicBezTo>
                    <a:pt x="21980271" y="8619872"/>
                    <a:pt x="22000338" y="8599805"/>
                    <a:pt x="22000338" y="8575167"/>
                  </a:cubicBezTo>
                  <a:lnTo>
                    <a:pt x="22000338" y="57404"/>
                  </a:lnTo>
                  <a:cubicBezTo>
                    <a:pt x="22000338" y="32639"/>
                    <a:pt x="21980271" y="12700"/>
                    <a:pt x="21955506" y="12700"/>
                  </a:cubicBezTo>
                  <a:lnTo>
                    <a:pt x="57531" y="12700"/>
                  </a:lnTo>
                  <a:lnTo>
                    <a:pt x="57531" y="6350"/>
                  </a:lnTo>
                  <a:lnTo>
                    <a:pt x="57531" y="12700"/>
                  </a:lnTo>
                  <a:cubicBezTo>
                    <a:pt x="32766" y="12700"/>
                    <a:pt x="12700" y="32766"/>
                    <a:pt x="12700" y="57404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3386" y="2022722"/>
            <a:ext cx="16481226" cy="733871"/>
            <a:chOff x="0" y="0"/>
            <a:chExt cx="21974968" cy="9784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74938" cy="978535"/>
            </a:xfrm>
            <a:custGeom>
              <a:avLst/>
              <a:gdLst/>
              <a:ahLst/>
              <a:cxnLst/>
              <a:rect l="l" t="t" r="r" b="b"/>
              <a:pathLst>
                <a:path w="21974938" h="978535">
                  <a:moveTo>
                    <a:pt x="0" y="0"/>
                  </a:moveTo>
                  <a:lnTo>
                    <a:pt x="21974938" y="0"/>
                  </a:lnTo>
                  <a:lnTo>
                    <a:pt x="21974938" y="978535"/>
                  </a:lnTo>
                  <a:lnTo>
                    <a:pt x="0" y="97853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58776" y="2109192"/>
            <a:ext cx="3604766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Method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83845" y="2109192"/>
            <a:ext cx="3600004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Application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04151" y="2109192"/>
            <a:ext cx="4424065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Contribution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48520" y="2109192"/>
            <a:ext cx="2780705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Limitations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3386" y="2756595"/>
            <a:ext cx="16481226" cy="1142405"/>
            <a:chOff x="0" y="0"/>
            <a:chExt cx="21974968" cy="15232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74938" cy="1523238"/>
            </a:xfrm>
            <a:custGeom>
              <a:avLst/>
              <a:gdLst/>
              <a:ahLst/>
              <a:cxnLst/>
              <a:rect l="l" t="t" r="r" b="b"/>
              <a:pathLst>
                <a:path w="21974938" h="1523238">
                  <a:moveTo>
                    <a:pt x="0" y="0"/>
                  </a:moveTo>
                  <a:lnTo>
                    <a:pt x="21974938" y="0"/>
                  </a:lnTo>
                  <a:lnTo>
                    <a:pt x="21974938" y="1523238"/>
                  </a:lnTo>
                  <a:lnTo>
                    <a:pt x="0" y="1523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58776" y="2843064"/>
            <a:ext cx="3604766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Deep Learning CNNs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83845" y="2843064"/>
            <a:ext cx="3600004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Plant Health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151" y="2843064"/>
            <a:ext cx="442406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Analyzes sensor and imaging data to identify and forecast health issues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348520" y="2843064"/>
            <a:ext cx="278070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Limited temporal integration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03386" y="3898999"/>
            <a:ext cx="16481226" cy="1142405"/>
            <a:chOff x="0" y="0"/>
            <a:chExt cx="21974968" cy="15232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74938" cy="1523238"/>
            </a:xfrm>
            <a:custGeom>
              <a:avLst/>
              <a:gdLst/>
              <a:ahLst/>
              <a:cxnLst/>
              <a:rect l="l" t="t" r="r" b="b"/>
              <a:pathLst>
                <a:path w="21974938" h="1523238">
                  <a:moveTo>
                    <a:pt x="0" y="0"/>
                  </a:moveTo>
                  <a:lnTo>
                    <a:pt x="21974938" y="0"/>
                  </a:lnTo>
                  <a:lnTo>
                    <a:pt x="21974938" y="1523238"/>
                  </a:lnTo>
                  <a:lnTo>
                    <a:pt x="0" y="152323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8776" y="3985469"/>
            <a:ext cx="3604766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Infrared Thermal Imaging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83845" y="3985469"/>
            <a:ext cx="3600004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Water Stress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04151" y="3985469"/>
            <a:ext cx="442406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Monitors canopy temperatures and transpiration rates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348520" y="3985469"/>
            <a:ext cx="278070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Lacks multi-sensor integration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03386" y="5041404"/>
            <a:ext cx="16481226" cy="1142405"/>
            <a:chOff x="0" y="0"/>
            <a:chExt cx="21974968" cy="15232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74938" cy="1523238"/>
            </a:xfrm>
            <a:custGeom>
              <a:avLst/>
              <a:gdLst/>
              <a:ahLst/>
              <a:cxnLst/>
              <a:rect l="l" t="t" r="r" b="b"/>
              <a:pathLst>
                <a:path w="21974938" h="1523238">
                  <a:moveTo>
                    <a:pt x="0" y="0"/>
                  </a:moveTo>
                  <a:lnTo>
                    <a:pt x="21974938" y="0"/>
                  </a:lnTo>
                  <a:lnTo>
                    <a:pt x="21974938" y="1523238"/>
                  </a:lnTo>
                  <a:lnTo>
                    <a:pt x="0" y="1523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58776" y="5127872"/>
            <a:ext cx="3604766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Pre-trained ResNet50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83845" y="5127872"/>
            <a:ext cx="3600004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Visual Diagnosis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04151" y="5127872"/>
            <a:ext cx="442406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Efficiently processes images for nutritional deficiency detection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48520" y="5127872"/>
            <a:ext cx="278070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High computational requirements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3386" y="6183809"/>
            <a:ext cx="16481226" cy="1142405"/>
            <a:chOff x="0" y="0"/>
            <a:chExt cx="21974968" cy="152320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974938" cy="1523238"/>
            </a:xfrm>
            <a:custGeom>
              <a:avLst/>
              <a:gdLst/>
              <a:ahLst/>
              <a:cxnLst/>
              <a:rect l="l" t="t" r="r" b="b"/>
              <a:pathLst>
                <a:path w="21974938" h="1523238">
                  <a:moveTo>
                    <a:pt x="0" y="0"/>
                  </a:moveTo>
                  <a:lnTo>
                    <a:pt x="21974938" y="0"/>
                  </a:lnTo>
                  <a:lnTo>
                    <a:pt x="21974938" y="1523238"/>
                  </a:lnTo>
                  <a:lnTo>
                    <a:pt x="0" y="152323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58776" y="6270277"/>
            <a:ext cx="3604766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Random Forest, SVM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83845" y="6270277"/>
            <a:ext cx="3600004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Classification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04151" y="6270277"/>
            <a:ext cx="442406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Classifies plant conditions using visual cues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48520" y="6270277"/>
            <a:ext cx="278070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No holistic sensor integration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03386" y="7326214"/>
            <a:ext cx="16481226" cy="1142405"/>
            <a:chOff x="0" y="0"/>
            <a:chExt cx="21974968" cy="152320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974938" cy="1523238"/>
            </a:xfrm>
            <a:custGeom>
              <a:avLst/>
              <a:gdLst/>
              <a:ahLst/>
              <a:cxnLst/>
              <a:rect l="l" t="t" r="r" b="b"/>
              <a:pathLst>
                <a:path w="21974938" h="1523238">
                  <a:moveTo>
                    <a:pt x="0" y="0"/>
                  </a:moveTo>
                  <a:lnTo>
                    <a:pt x="21974938" y="0"/>
                  </a:lnTo>
                  <a:lnTo>
                    <a:pt x="21974938" y="1523238"/>
                  </a:lnTo>
                  <a:lnTo>
                    <a:pt x="0" y="1523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8776" y="7412682"/>
            <a:ext cx="3604766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3D-3T Model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83845" y="7412682"/>
            <a:ext cx="3600004" cy="4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Urban Agriculture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04151" y="7412682"/>
            <a:ext cx="442406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Simplifies transpiration rate estimation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348520" y="7412682"/>
            <a:ext cx="2780705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Limited to urban contexts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93861" y="8689181"/>
            <a:ext cx="16500276" cy="89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Our digital twin approach addresses these limitations by creating an integrated framework that combines multiple data sources and analytical techniques into a unified predictive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53499" y="1012329"/>
            <a:ext cx="9639002" cy="164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 and 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53499" y="3270051"/>
            <a:ext cx="3838278" cy="508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Core 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499" y="3957935"/>
            <a:ext cx="4507409" cy="119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Design an intelligent, interoperable system integrating AI and digital twin technologies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38751" y="5311785"/>
            <a:ext cx="4507409" cy="89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Enable real-time data analysis and automated environmental control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53499" y="6760220"/>
            <a:ext cx="4507409" cy="1304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Improve resource efficiency and prediction accuracy across agricultural operations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58415" y="8379916"/>
            <a:ext cx="4507409" cy="89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Support climate-friendly, data-driven decision making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4617" y="3044726"/>
            <a:ext cx="4099620" cy="508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Methodology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94617" y="4091333"/>
            <a:ext cx="4507409" cy="160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 dirty="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Data Collection:</a:t>
            </a: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IoT </a:t>
            </a:r>
            <a:r>
              <a:rPr lang="en-US" sz="2000" dirty="0" err="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seors</a:t>
            </a: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, drones, and imaging systems continuously feed data into the digital twin model.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85092" y="5877373"/>
            <a:ext cx="4507409" cy="171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 dirty="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Analytics:</a:t>
            </a: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YOLO V7, machine learning models, and AI-IoT frameworks process data to generate predictive insights.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94617" y="7825084"/>
            <a:ext cx="4507409" cy="171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 dirty="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Output:</a:t>
            </a:r>
            <a:r>
              <a:rPr lang="en-US" sz="20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Interactive dashboard providing real-time visualization, growth stage predictions, and optimization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6649" y="620911"/>
            <a:ext cx="9931152" cy="767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Expected Impact and 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6649" y="2190452"/>
            <a:ext cx="3952577" cy="68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93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20%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2281" y="3134171"/>
            <a:ext cx="2881164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Yield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6649" y="3584972"/>
            <a:ext cx="3952577" cy="813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Improvement in accuracy through AI-enabled models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47209" y="2190452"/>
            <a:ext cx="3952726" cy="68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93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96%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2990" y="3134171"/>
            <a:ext cx="2881164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Water Reduction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47209" y="3584972"/>
            <a:ext cx="3952726" cy="813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Decreased water usage via UAV-guided precision irrigation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87916" y="2190452"/>
            <a:ext cx="3952726" cy="68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93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25%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3698" y="3134171"/>
            <a:ext cx="2881164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Productivity Gain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87916" y="3584972"/>
            <a:ext cx="3952726" cy="813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Enhanced crop productivity through IoT smart systems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28625" y="2190452"/>
            <a:ext cx="3952726" cy="68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93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40%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64406" y="3134171"/>
            <a:ext cx="2881164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Fertilizer Savings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28625" y="3584972"/>
            <a:ext cx="3952726" cy="813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Reduction in fertilizer consumption with targeted application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6649" y="4715916"/>
            <a:ext cx="3969395" cy="46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Implementation Timeline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06649" y="7680126"/>
            <a:ext cx="16674704" cy="28575"/>
            <a:chOff x="0" y="0"/>
            <a:chExt cx="22232938" cy="38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233001" cy="38100"/>
            </a:xfrm>
            <a:custGeom>
              <a:avLst/>
              <a:gdLst/>
              <a:ahLst/>
              <a:cxnLst/>
              <a:rect l="l" t="t" r="r" b="b"/>
              <a:pathLst>
                <a:path w="2223300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2213951" y="0"/>
                  </a:lnTo>
                  <a:cubicBezTo>
                    <a:pt x="22224492" y="0"/>
                    <a:pt x="22233001" y="8509"/>
                    <a:pt x="22233001" y="19050"/>
                  </a:cubicBezTo>
                  <a:cubicBezTo>
                    <a:pt x="22233001" y="29591"/>
                    <a:pt x="22224492" y="38100"/>
                    <a:pt x="222139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4555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40832" y="6988671"/>
            <a:ext cx="28575" cy="691455"/>
            <a:chOff x="0" y="0"/>
            <a:chExt cx="38100" cy="9219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" cy="921893"/>
            </a:xfrm>
            <a:custGeom>
              <a:avLst/>
              <a:gdLst/>
              <a:ahLst/>
              <a:cxnLst/>
              <a:rect l="l" t="t" r="r" b="b"/>
              <a:pathLst>
                <a:path w="38100" h="92189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02843"/>
                  </a:lnTo>
                  <a:cubicBezTo>
                    <a:pt x="38100" y="913384"/>
                    <a:pt x="29591" y="921893"/>
                    <a:pt x="19050" y="921893"/>
                  </a:cubicBezTo>
                  <a:cubicBezTo>
                    <a:pt x="8509" y="921893"/>
                    <a:pt x="0" y="913384"/>
                    <a:pt x="0" y="902843"/>
                  </a:cubicBezTo>
                  <a:close/>
                </a:path>
              </a:pathLst>
            </a:custGeom>
            <a:solidFill>
              <a:srgbClr val="54555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95861" y="7420867"/>
            <a:ext cx="518517" cy="518517"/>
            <a:chOff x="0" y="0"/>
            <a:chExt cx="691357" cy="69135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1388" cy="691388"/>
            </a:xfrm>
            <a:custGeom>
              <a:avLst/>
              <a:gdLst/>
              <a:ahLst/>
              <a:cxnLst/>
              <a:rect l="l" t="t" r="r" b="b"/>
              <a:pathLst>
                <a:path w="691388" h="691388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287" y="0"/>
                  </a:lnTo>
                  <a:cubicBezTo>
                    <a:pt x="670687" y="0"/>
                    <a:pt x="691388" y="20701"/>
                    <a:pt x="691388" y="46101"/>
                  </a:cubicBezTo>
                  <a:lnTo>
                    <a:pt x="691388" y="645287"/>
                  </a:lnTo>
                  <a:cubicBezTo>
                    <a:pt x="691388" y="670687"/>
                    <a:pt x="670687" y="691388"/>
                    <a:pt x="645287" y="691388"/>
                  </a:cubicBezTo>
                  <a:lnTo>
                    <a:pt x="46101" y="691388"/>
                  </a:lnTo>
                  <a:cubicBezTo>
                    <a:pt x="20701" y="691388"/>
                    <a:pt x="0" y="670687"/>
                    <a:pt x="0" y="645287"/>
                  </a:cubicBezTo>
                  <a:close/>
                </a:path>
              </a:pathLst>
            </a:custGeom>
            <a:solidFill>
              <a:srgbClr val="3B3C3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882256" y="7502202"/>
            <a:ext cx="345727" cy="39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72332" y="5493692"/>
            <a:ext cx="3165574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Phase 1: Data Collection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960" y="6391051"/>
            <a:ext cx="6036320" cy="34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Obtain datasets and study them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433370" y="7680126"/>
            <a:ext cx="28575" cy="691455"/>
            <a:chOff x="0" y="0"/>
            <a:chExt cx="38100" cy="9219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100" cy="921893"/>
            </a:xfrm>
            <a:custGeom>
              <a:avLst/>
              <a:gdLst/>
              <a:ahLst/>
              <a:cxnLst/>
              <a:rect l="l" t="t" r="r" b="b"/>
              <a:pathLst>
                <a:path w="38100" h="92189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02843"/>
                  </a:lnTo>
                  <a:cubicBezTo>
                    <a:pt x="38100" y="913384"/>
                    <a:pt x="29591" y="921893"/>
                    <a:pt x="19050" y="921893"/>
                  </a:cubicBezTo>
                  <a:cubicBezTo>
                    <a:pt x="8509" y="921893"/>
                    <a:pt x="0" y="913384"/>
                    <a:pt x="0" y="902843"/>
                  </a:cubicBezTo>
                  <a:close/>
                </a:path>
              </a:pathLst>
            </a:custGeom>
            <a:solidFill>
              <a:srgbClr val="54555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188399" y="7420867"/>
            <a:ext cx="518517" cy="518517"/>
            <a:chOff x="0" y="0"/>
            <a:chExt cx="691357" cy="69135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91388" cy="691388"/>
            </a:xfrm>
            <a:custGeom>
              <a:avLst/>
              <a:gdLst/>
              <a:ahLst/>
              <a:cxnLst/>
              <a:rect l="l" t="t" r="r" b="b"/>
              <a:pathLst>
                <a:path w="691388" h="691388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287" y="0"/>
                  </a:lnTo>
                  <a:cubicBezTo>
                    <a:pt x="670687" y="0"/>
                    <a:pt x="691388" y="20701"/>
                    <a:pt x="691388" y="46101"/>
                  </a:cubicBezTo>
                  <a:lnTo>
                    <a:pt x="691388" y="645287"/>
                  </a:lnTo>
                  <a:cubicBezTo>
                    <a:pt x="691388" y="670687"/>
                    <a:pt x="670687" y="691388"/>
                    <a:pt x="645287" y="691388"/>
                  </a:cubicBezTo>
                  <a:lnTo>
                    <a:pt x="46101" y="691388"/>
                  </a:lnTo>
                  <a:cubicBezTo>
                    <a:pt x="20701" y="691388"/>
                    <a:pt x="0" y="670687"/>
                    <a:pt x="0" y="645287"/>
                  </a:cubicBezTo>
                  <a:close/>
                </a:path>
              </a:pathLst>
            </a:custGeom>
            <a:solidFill>
              <a:srgbClr val="3B3C3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274794" y="7502202"/>
            <a:ext cx="345727" cy="39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40276" y="8573392"/>
            <a:ext cx="3814911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Phase 2: Model Development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15210" y="9381826"/>
            <a:ext cx="6036320" cy="44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Train AI models and develop digital twin framework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825906" y="6988671"/>
            <a:ext cx="28575" cy="691455"/>
            <a:chOff x="0" y="0"/>
            <a:chExt cx="38100" cy="9219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100" cy="921893"/>
            </a:xfrm>
            <a:custGeom>
              <a:avLst/>
              <a:gdLst/>
              <a:ahLst/>
              <a:cxnLst/>
              <a:rect l="l" t="t" r="r" b="b"/>
              <a:pathLst>
                <a:path w="38100" h="92189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02843"/>
                  </a:lnTo>
                  <a:cubicBezTo>
                    <a:pt x="38100" y="913384"/>
                    <a:pt x="29591" y="921893"/>
                    <a:pt x="19050" y="921893"/>
                  </a:cubicBezTo>
                  <a:cubicBezTo>
                    <a:pt x="8509" y="921893"/>
                    <a:pt x="0" y="913384"/>
                    <a:pt x="0" y="902843"/>
                  </a:cubicBezTo>
                  <a:close/>
                </a:path>
              </a:pathLst>
            </a:custGeom>
            <a:solidFill>
              <a:srgbClr val="54555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580935" y="7420867"/>
            <a:ext cx="518518" cy="518517"/>
            <a:chOff x="0" y="0"/>
            <a:chExt cx="691357" cy="69135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91388" cy="691388"/>
            </a:xfrm>
            <a:custGeom>
              <a:avLst/>
              <a:gdLst/>
              <a:ahLst/>
              <a:cxnLst/>
              <a:rect l="l" t="t" r="r" b="b"/>
              <a:pathLst>
                <a:path w="691388" h="691388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287" y="0"/>
                  </a:lnTo>
                  <a:cubicBezTo>
                    <a:pt x="670687" y="0"/>
                    <a:pt x="691388" y="20701"/>
                    <a:pt x="691388" y="46101"/>
                  </a:cubicBezTo>
                  <a:lnTo>
                    <a:pt x="691388" y="645287"/>
                  </a:lnTo>
                  <a:cubicBezTo>
                    <a:pt x="691388" y="670687"/>
                    <a:pt x="670687" y="691388"/>
                    <a:pt x="645287" y="691388"/>
                  </a:cubicBezTo>
                  <a:lnTo>
                    <a:pt x="46101" y="691388"/>
                  </a:lnTo>
                  <a:cubicBezTo>
                    <a:pt x="20701" y="691388"/>
                    <a:pt x="0" y="670687"/>
                    <a:pt x="0" y="645287"/>
                  </a:cubicBezTo>
                  <a:close/>
                </a:path>
              </a:pathLst>
            </a:custGeom>
            <a:solidFill>
              <a:srgbClr val="3B3C3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667330" y="7502202"/>
            <a:ext cx="345728" cy="39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99686" y="5493692"/>
            <a:ext cx="2881164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Phase 3: Testing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822109" y="5944492"/>
            <a:ext cx="6036320" cy="813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Validate system performance in controlled environments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4218444" y="7680126"/>
            <a:ext cx="28575" cy="691455"/>
            <a:chOff x="0" y="0"/>
            <a:chExt cx="38100" cy="9219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100" cy="921893"/>
            </a:xfrm>
            <a:custGeom>
              <a:avLst/>
              <a:gdLst/>
              <a:ahLst/>
              <a:cxnLst/>
              <a:rect l="l" t="t" r="r" b="b"/>
              <a:pathLst>
                <a:path w="38100" h="92189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02843"/>
                  </a:lnTo>
                  <a:cubicBezTo>
                    <a:pt x="38100" y="913384"/>
                    <a:pt x="29591" y="921893"/>
                    <a:pt x="19050" y="921893"/>
                  </a:cubicBezTo>
                  <a:cubicBezTo>
                    <a:pt x="8509" y="921893"/>
                    <a:pt x="0" y="913384"/>
                    <a:pt x="0" y="902843"/>
                  </a:cubicBezTo>
                  <a:close/>
                </a:path>
              </a:pathLst>
            </a:custGeom>
            <a:solidFill>
              <a:srgbClr val="54555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973472" y="7420867"/>
            <a:ext cx="518518" cy="518517"/>
            <a:chOff x="0" y="0"/>
            <a:chExt cx="691357" cy="69135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91388" cy="691388"/>
            </a:xfrm>
            <a:custGeom>
              <a:avLst/>
              <a:gdLst/>
              <a:ahLst/>
              <a:cxnLst/>
              <a:rect l="l" t="t" r="r" b="b"/>
              <a:pathLst>
                <a:path w="691388" h="691388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287" y="0"/>
                  </a:lnTo>
                  <a:cubicBezTo>
                    <a:pt x="670687" y="0"/>
                    <a:pt x="691388" y="20701"/>
                    <a:pt x="691388" y="46101"/>
                  </a:cubicBezTo>
                  <a:lnTo>
                    <a:pt x="691388" y="645287"/>
                  </a:lnTo>
                  <a:cubicBezTo>
                    <a:pt x="691388" y="670687"/>
                    <a:pt x="670687" y="691388"/>
                    <a:pt x="645287" y="691388"/>
                  </a:cubicBezTo>
                  <a:lnTo>
                    <a:pt x="46101" y="691388"/>
                  </a:lnTo>
                  <a:cubicBezTo>
                    <a:pt x="20701" y="691388"/>
                    <a:pt x="0" y="670687"/>
                    <a:pt x="0" y="645287"/>
                  </a:cubicBezTo>
                  <a:close/>
                </a:path>
              </a:pathLst>
            </a:custGeom>
            <a:solidFill>
              <a:srgbClr val="3B3C3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4059868" y="7502202"/>
            <a:ext cx="345728" cy="39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792224" y="8573392"/>
            <a:ext cx="2881164" cy="38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1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Phase 4: Integration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14646" y="9024194"/>
            <a:ext cx="6036320" cy="44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Large-scale deployment targeted for 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2801" y="327273"/>
            <a:ext cx="8243590" cy="70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1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Conclusions and Future Directions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5761" y="2489985"/>
            <a:ext cx="318388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800" b="1" dirty="0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Project Summary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5761" y="3149961"/>
            <a:ext cx="9008269" cy="164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This research demonstrates the transformative potential of integrating AI-powered analytics, digital twins, and IoT technologies to address critical challenges in sustainable agriculture. By creating a unified, interactive system that synthesizes real-time data from multiple sources, we enable farmers to make informed decisions about irrigation, fertilization, and pest control.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5594" y="5521838"/>
            <a:ext cx="318388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800" b="1" dirty="0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Next Steps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5594" y="6083810"/>
            <a:ext cx="9008269" cy="3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Prioritize scalability and interoperability for diverse agricultural contexts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801" y="6500072"/>
            <a:ext cx="9008269" cy="3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Enhance affordability to enable widespread farmer adoption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5762" y="6946998"/>
            <a:ext cx="9008269" cy="3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Expand integration with emerging precision agriculture technologies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2801" y="7360740"/>
            <a:ext cx="9008269" cy="31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Develop training programs for effective system utilization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0278219" y="1247031"/>
            <a:ext cx="7110265" cy="7110265"/>
            <a:chOff x="0" y="0"/>
            <a:chExt cx="9701808" cy="9701808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9701784" cy="9701784"/>
            </a:xfrm>
            <a:custGeom>
              <a:avLst/>
              <a:gdLst/>
              <a:ahLst/>
              <a:cxnLst/>
              <a:rect l="l" t="t" r="r" b="b"/>
              <a:pathLst>
                <a:path w="9701784" h="9701784">
                  <a:moveTo>
                    <a:pt x="0" y="0"/>
                  </a:moveTo>
                  <a:lnTo>
                    <a:pt x="9701784" y="0"/>
                  </a:lnTo>
                  <a:lnTo>
                    <a:pt x="9701784" y="9701784"/>
                  </a:lnTo>
                  <a:lnTo>
                    <a:pt x="0" y="9701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471324" y="8781157"/>
            <a:ext cx="6936538" cy="108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1619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"The convergence of digital twin technology with machine learning algorithms creates unprecedented opportunities for predictive farming and sustainable agricultural practices."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78219" y="8863393"/>
            <a:ext cx="28575" cy="1018431"/>
            <a:chOff x="0" y="0"/>
            <a:chExt cx="38100" cy="13579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100" cy="1357884"/>
            </a:xfrm>
            <a:custGeom>
              <a:avLst/>
              <a:gdLst/>
              <a:ahLst/>
              <a:cxnLst/>
              <a:rect l="l" t="t" r="r" b="b"/>
              <a:pathLst>
                <a:path w="38100" h="1357884">
                  <a:moveTo>
                    <a:pt x="0" y="0"/>
                  </a:moveTo>
                  <a:lnTo>
                    <a:pt x="38100" y="0"/>
                  </a:lnTo>
                  <a:lnTo>
                    <a:pt x="38100" y="1357884"/>
                  </a:lnTo>
                  <a:lnTo>
                    <a:pt x="0" y="1357884"/>
                  </a:lnTo>
                  <a:close/>
                </a:path>
              </a:pathLst>
            </a:custGeom>
            <a:solidFill>
              <a:srgbClr val="9FA582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740</Words>
  <Application>Microsoft Office PowerPoint</Application>
  <PresentationFormat>Custom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Bitter</vt:lpstr>
      <vt:lpstr>Calibri</vt:lpstr>
      <vt:lpstr>Arial</vt:lpstr>
      <vt:lpstr>Bitter Bold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AI-Powered-Digital-Twin-of-Farmland-for-Predictive-Farming (1).pptx</dc:title>
  <cp:lastModifiedBy>Adhiraj Singh Chauhan [CSE (DATA SCIENCE) - 2024]</cp:lastModifiedBy>
  <cp:revision>4</cp:revision>
  <dcterms:created xsi:type="dcterms:W3CDTF">2006-08-16T00:00:00Z</dcterms:created>
  <dcterms:modified xsi:type="dcterms:W3CDTF">2025-11-12T15:07:03Z</dcterms:modified>
  <dc:identifier>DAG38QkOxYo</dc:identifier>
</cp:coreProperties>
</file>